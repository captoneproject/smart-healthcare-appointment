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69dc0964c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69dc0964c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569dc0964c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569dc0964c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6000"/>
              <a:t>Smart Healthcare Appointment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77500" lnSpcReduction="20000"/>
          </a:bodyPr>
          <a:lstStyle/>
          <a:p>
            <a:pPr indent="0" lvl="0" marL="0" rtl="0" algn="ctr">
              <a:lnSpc>
                <a:spcPct val="90000"/>
              </a:lnSpc>
              <a:spcBef>
                <a:spcPts val="1000"/>
              </a:spcBef>
              <a:spcAft>
                <a:spcPts val="0"/>
              </a:spcAft>
              <a:buClr>
                <a:schemeClr val="dk1"/>
              </a:buClr>
              <a:buSzPct val="34375"/>
              <a:buFont typeface="Arial"/>
              <a:buNone/>
            </a:pPr>
            <a:r>
              <a:rPr lang="en" sz="3200">
                <a:solidFill>
                  <a:schemeClr val="dk1"/>
                </a:solidFill>
              </a:rPr>
              <a:t>Sequence Diagram</a:t>
            </a:r>
            <a:endParaRPr sz="3200">
              <a:solidFill>
                <a:schemeClr val="dk1"/>
              </a:solidFill>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142850"/>
            <a:ext cx="8520600" cy="874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5833"/>
              <a:buFont typeface="Arial"/>
              <a:buNone/>
            </a:pPr>
            <a:r>
              <a:rPr lang="en" sz="2400"/>
              <a:t>Smart Healthcare Appointment</a:t>
            </a:r>
            <a:endParaRPr sz="2400"/>
          </a:p>
          <a:p>
            <a:pPr indent="0" lvl="0" marL="0" rtl="0" algn="l">
              <a:spcBef>
                <a:spcPts val="0"/>
              </a:spcBef>
              <a:spcAft>
                <a:spcPts val="0"/>
              </a:spcAft>
              <a:buNone/>
            </a:pPr>
            <a:r>
              <a:rPr lang="en" sz="2400"/>
              <a:t>03.04 Delete Invoice</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62" name="Google Shape;62;p14"/>
          <p:cNvSpPr txBox="1"/>
          <p:nvPr/>
        </p:nvSpPr>
        <p:spPr>
          <a:xfrm>
            <a:off x="7125200" y="1906350"/>
            <a:ext cx="20187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Use Case</a:t>
            </a:r>
            <a:r>
              <a:rPr b="1" lang="en">
                <a:solidFill>
                  <a:schemeClr val="dk2"/>
                </a:solidFill>
              </a:rPr>
              <a:t> Scenario:</a:t>
            </a:r>
            <a:endParaRPr b="1">
              <a:solidFill>
                <a:schemeClr val="dk2"/>
              </a:solidFill>
            </a:endParaRPr>
          </a:p>
          <a:p>
            <a:pPr indent="0" lvl="0" marL="0" rtl="0" algn="l">
              <a:spcBef>
                <a:spcPts val="0"/>
              </a:spcBef>
              <a:spcAft>
                <a:spcPts val="0"/>
              </a:spcAft>
              <a:buNone/>
            </a:pPr>
            <a:r>
              <a:rPr lang="en">
                <a:solidFill>
                  <a:schemeClr val="dk2"/>
                </a:solidFill>
              </a:rPr>
              <a:t>The user requests to delete an invoice, which triggers the system to validate the deletion and remove the invoice from the database. The system confirms the successful deletion to the user.</a:t>
            </a:r>
            <a:endParaRPr>
              <a:solidFill>
                <a:schemeClr val="dk2"/>
              </a:solidFill>
            </a:endParaRPr>
          </a:p>
        </p:txBody>
      </p:sp>
      <p:pic>
        <p:nvPicPr>
          <p:cNvPr id="63" name="Google Shape;63;p14" title="UML Sequence Diagram.png"/>
          <p:cNvPicPr preferRelativeResize="0"/>
          <p:nvPr/>
        </p:nvPicPr>
        <p:blipFill rotWithShape="1">
          <a:blip r:embed="rId3">
            <a:alphaModFix/>
          </a:blip>
          <a:srcRect b="26966" l="59146" r="0" t="45010"/>
          <a:stretch/>
        </p:blipFill>
        <p:spPr>
          <a:xfrm>
            <a:off x="0" y="898375"/>
            <a:ext cx="7125198" cy="42944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42850"/>
            <a:ext cx="8520600" cy="87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60"/>
              <a:t>Smart Healthcare Appointment</a:t>
            </a:r>
            <a:endParaRPr sz="2160"/>
          </a:p>
          <a:p>
            <a:pPr indent="0" lvl="0" marL="0" rtl="0" algn="l">
              <a:spcBef>
                <a:spcPts val="0"/>
              </a:spcBef>
              <a:spcAft>
                <a:spcPts val="0"/>
              </a:spcAft>
              <a:buSzPts val="990"/>
              <a:buNone/>
            </a:pPr>
            <a:r>
              <a:rPr lang="en" sz="2220"/>
              <a:t>03.06 Create Insurance Claim</a:t>
            </a:r>
            <a:endParaRPr sz="2220"/>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70" name="Google Shape;70;p15"/>
          <p:cNvSpPr txBox="1"/>
          <p:nvPr/>
        </p:nvSpPr>
        <p:spPr>
          <a:xfrm>
            <a:off x="7251150" y="2032925"/>
            <a:ext cx="1893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Use Case Scenario: </a:t>
            </a:r>
            <a:endParaRPr b="1">
              <a:solidFill>
                <a:schemeClr val="dk2"/>
              </a:solidFill>
            </a:endParaRPr>
          </a:p>
          <a:p>
            <a:pPr indent="0" lvl="0" marL="0" rtl="0" algn="l">
              <a:spcBef>
                <a:spcPts val="0"/>
              </a:spcBef>
              <a:spcAft>
                <a:spcPts val="0"/>
              </a:spcAft>
              <a:buNone/>
            </a:pPr>
            <a:r>
              <a:rPr lang="en">
                <a:solidFill>
                  <a:schemeClr val="dk2"/>
                </a:solidFill>
              </a:rPr>
              <a:t>The patient submits an insurance claim, saving of the claim, followed by a confirmation email to the patient and a success message displayed on the UI.</a:t>
            </a:r>
            <a:endParaRPr>
              <a:solidFill>
                <a:schemeClr val="dk2"/>
              </a:solidFill>
            </a:endParaRPr>
          </a:p>
        </p:txBody>
      </p:sp>
      <p:pic>
        <p:nvPicPr>
          <p:cNvPr id="71" name="Google Shape;71;p15" title="UML Sequence Diagram.png"/>
          <p:cNvPicPr preferRelativeResize="0"/>
          <p:nvPr/>
        </p:nvPicPr>
        <p:blipFill rotWithShape="1">
          <a:blip r:embed="rId3">
            <a:alphaModFix/>
          </a:blip>
          <a:srcRect b="20824" l="0" r="52079" t="48849"/>
          <a:stretch/>
        </p:blipFill>
        <p:spPr>
          <a:xfrm>
            <a:off x="-414650" y="1017650"/>
            <a:ext cx="7108099" cy="412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